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8"/>
  </p:notesMasterIdLst>
  <p:handoutMasterIdLst>
    <p:handoutMasterId r:id="rId9"/>
  </p:handoutMasterIdLst>
  <p:sldIdLst>
    <p:sldId id="338" r:id="rId5"/>
    <p:sldId id="339" r:id="rId6"/>
    <p:sldId id="340" r:id="rId7"/>
  </p:sldIdLst>
  <p:sldSz cx="12192000" cy="6858000"/>
  <p:notesSz cx="6950075" cy="9236075"/>
  <p:custShowLst>
    <p:custShow name="Format Guide Workshop" id="0">
      <p:sldLst/>
    </p:custShow>
  </p:custShowLst>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FF"/>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p:scale>
          <a:sx n="50" d="100"/>
          <a:sy n="50" d="100"/>
        </p:scale>
        <p:origin x="1208" y="32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1/30/2026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1/30/2026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5" Type="http://schemas.openxmlformats.org/officeDocument/2006/relationships/oleObject" Target="../embeddings/oleObject16.bin"/><Relationship Id="rId4" Type="http://schemas.openxmlformats.org/officeDocument/2006/relationships/slideLayout" Target="../slideLayouts/slideLayout2.xml"/><Relationship Id="rId9"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7.xml"/><Relationship Id="rId7" Type="http://schemas.openxmlformats.org/officeDocument/2006/relationships/oleObject" Target="../embeddings/oleObject17.bin"/><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image" Target="../media/image10.emf"/><Relationship Id="rId5" Type="http://schemas.openxmlformats.org/officeDocument/2006/relationships/oleObject" Target="../embeddings/oleObject16.bin"/><Relationship Id="rId4" Type="http://schemas.openxmlformats.org/officeDocument/2006/relationships/slideLayout" Target="../slideLayouts/slideLayout2.xml"/><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90.xml"/><Relationship Id="rId7" Type="http://schemas.openxmlformats.org/officeDocument/2006/relationships/oleObject" Target="../embeddings/oleObject17.bin"/><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10.emf"/><Relationship Id="rId5" Type="http://schemas.openxmlformats.org/officeDocument/2006/relationships/oleObject" Target="../embeddings/oleObject16.bin"/><Relationship Id="rId4" Type="http://schemas.openxmlformats.org/officeDocument/2006/relationships/slideLayout" Target="../slideLayouts/slideLayout2.xml"/><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315040" y="238457"/>
            <a:ext cx="10933200" cy="387798"/>
          </a:xfrm>
        </p:spPr>
        <p:txBody>
          <a:bodyPr anchor="t"/>
          <a:lstStyle/>
          <a:p>
            <a:r>
              <a:rPr lang="en-US" sz="2800" dirty="0"/>
              <a:t>Campaign and message Insights: </a:t>
            </a:r>
            <a:r>
              <a:rPr lang="en-US" sz="2800" dirty="0" err="1"/>
              <a:t>NewCo</a:t>
            </a:r>
            <a:endParaRPr lang="en-US" sz="2800" dirty="0"/>
          </a:p>
        </p:txBody>
      </p:sp>
      <p:sp>
        <p:nvSpPr>
          <p:cNvPr id="2" name="Rectangle 1">
            <a:extLst>
              <a:ext uri="{FF2B5EF4-FFF2-40B4-BE49-F238E27FC236}">
                <a16:creationId xmlns:a16="http://schemas.microsoft.com/office/drawing/2014/main" id="{477E036F-AF50-32A5-AA87-4A97F3F6A88D}"/>
              </a:ext>
            </a:extLst>
          </p:cNvPr>
          <p:cNvSpPr/>
          <p:nvPr/>
        </p:nvSpPr>
        <p:spPr>
          <a:xfrm>
            <a:off x="655826" y="5467755"/>
            <a:ext cx="10933200" cy="1196727"/>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2000" b="1" dirty="0">
                <a:solidFill>
                  <a:srgbClr val="000000"/>
                </a:solidFill>
              </a:rPr>
              <a:t>Recommendation:</a:t>
            </a:r>
          </a:p>
          <a:p>
            <a:endParaRPr lang="en-US" sz="1600" b="1" dirty="0">
              <a:solidFill>
                <a:srgbClr val="000000"/>
              </a:solidFill>
            </a:endParaRPr>
          </a:p>
          <a:p>
            <a:r>
              <a:rPr lang="en-US" sz="1600" b="1" dirty="0">
                <a:solidFill>
                  <a:srgbClr val="000000"/>
                </a:solidFill>
              </a:rPr>
              <a:t>Message A is better than B overall, with leading channel being Email. Hence, the ideal combination is Email + A which New co should focus on to enhance sales coming from New customers.</a:t>
            </a:r>
            <a:endParaRPr lang="en-US" sz="2000" b="1" dirty="0">
              <a:solidFill>
                <a:srgbClr val="000000"/>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3528073" y="4791485"/>
            <a:ext cx="4770092"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rgbClr val="21BF61"/>
                </a:solidFill>
              </a:rPr>
              <a:t>Sum of Sales for New Customers</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pic>
        <p:nvPicPr>
          <p:cNvPr id="9" name="Picture 8">
            <a:extLst>
              <a:ext uri="{FF2B5EF4-FFF2-40B4-BE49-F238E27FC236}">
                <a16:creationId xmlns:a16="http://schemas.microsoft.com/office/drawing/2014/main" id="{E789AA17-532E-B5D0-67BC-2C710C339570}"/>
              </a:ext>
            </a:extLst>
          </p:cNvPr>
          <p:cNvPicPr>
            <a:picLocks noChangeAspect="1"/>
          </p:cNvPicPr>
          <p:nvPr/>
        </p:nvPicPr>
        <p:blipFill>
          <a:blip r:embed="rId9"/>
          <a:stretch>
            <a:fillRect/>
          </a:stretch>
        </p:blipFill>
        <p:spPr>
          <a:xfrm>
            <a:off x="2498717" y="1126416"/>
            <a:ext cx="6828804" cy="3511600"/>
          </a:xfrm>
          <a:prstGeom prst="rect">
            <a:avLst/>
          </a:prstGeom>
        </p:spPr>
      </p:pic>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6151C-8650-BBA9-AC5E-9439CF718F03}"/>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EE0576-13A4-BB3F-701E-D10590FB6AC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7E0F588-7BDF-C432-DEEA-4489D513CD74}"/>
              </a:ext>
            </a:extLst>
          </p:cNvPr>
          <p:cNvSpPr>
            <a:spLocks noGrp="1"/>
          </p:cNvSpPr>
          <p:nvPr>
            <p:ph type="title"/>
          </p:nvPr>
        </p:nvSpPr>
        <p:spPr>
          <a:xfrm>
            <a:off x="406480" y="258887"/>
            <a:ext cx="10933200" cy="387798"/>
          </a:xfrm>
        </p:spPr>
        <p:txBody>
          <a:bodyPr anchor="t"/>
          <a:lstStyle/>
          <a:p>
            <a:r>
              <a:rPr lang="en-US" sz="2800" dirty="0"/>
              <a:t>Campaign and message Insights: </a:t>
            </a:r>
            <a:r>
              <a:rPr lang="en-US" sz="2800" dirty="0" err="1"/>
              <a:t>NewCo</a:t>
            </a:r>
            <a:endParaRPr lang="en-US" sz="2800" dirty="0"/>
          </a:p>
        </p:txBody>
      </p:sp>
      <p:sp>
        <p:nvSpPr>
          <p:cNvPr id="2" name="Rectangle 1">
            <a:extLst>
              <a:ext uri="{FF2B5EF4-FFF2-40B4-BE49-F238E27FC236}">
                <a16:creationId xmlns:a16="http://schemas.microsoft.com/office/drawing/2014/main" id="{9FA481AE-BF48-437E-A46A-826173D9F8AF}"/>
              </a:ext>
            </a:extLst>
          </p:cNvPr>
          <p:cNvSpPr/>
          <p:nvPr/>
        </p:nvSpPr>
        <p:spPr>
          <a:xfrm>
            <a:off x="651831" y="5371165"/>
            <a:ext cx="10933200" cy="122794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Recommendation:</a:t>
            </a:r>
          </a:p>
          <a:p>
            <a:endParaRPr lang="en-US" sz="1600" b="1" dirty="0">
              <a:solidFill>
                <a:srgbClr val="000000"/>
              </a:solidFill>
            </a:endParaRPr>
          </a:p>
          <a:p>
            <a:r>
              <a:rPr lang="en-US" sz="1600" b="1" dirty="0">
                <a:solidFill>
                  <a:srgbClr val="000000"/>
                </a:solidFill>
              </a:rPr>
              <a:t>This indicates new consumers spend most time on message A on an average, and Instagram is where they are spending their highest time (48 seconds), hence focus on Instagram via message A to convert new customers.</a:t>
            </a:r>
            <a:endParaRPr lang="en-US" sz="1200" dirty="0">
              <a:solidFill>
                <a:srgbClr val="000000"/>
              </a:solidFill>
            </a:endParaRPr>
          </a:p>
        </p:txBody>
      </p:sp>
      <p:sp>
        <p:nvSpPr>
          <p:cNvPr id="8" name="Rectangle 7">
            <a:extLst>
              <a:ext uri="{FF2B5EF4-FFF2-40B4-BE49-F238E27FC236}">
                <a16:creationId xmlns:a16="http://schemas.microsoft.com/office/drawing/2014/main" id="{D87DC1C0-2B68-A4D8-9C6F-4F3D766A64A3}"/>
              </a:ext>
            </a:extLst>
          </p:cNvPr>
          <p:cNvSpPr/>
          <p:nvPr/>
        </p:nvSpPr>
        <p:spPr>
          <a:xfrm>
            <a:off x="3047363" y="4673717"/>
            <a:ext cx="6121815" cy="338554"/>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solidFill>
                  <a:srgbClr val="21BF61"/>
                </a:solidFill>
              </a:rPr>
              <a:t>Average time spent by new customers when no conversion</a:t>
            </a:r>
          </a:p>
        </p:txBody>
      </p:sp>
      <p:graphicFrame>
        <p:nvGraphicFramePr>
          <p:cNvPr id="17" name="Object 16" hidden="1">
            <a:extLst>
              <a:ext uri="{FF2B5EF4-FFF2-40B4-BE49-F238E27FC236}">
                <a16:creationId xmlns:a16="http://schemas.microsoft.com/office/drawing/2014/main" id="{2F70B680-3623-BC3D-AA57-E50BAB6D2F2A}"/>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203EB188-9150-E0FE-12B1-AF72990B83A9}"/>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 name="Rectangle 4">
            <a:extLst>
              <a:ext uri="{FF2B5EF4-FFF2-40B4-BE49-F238E27FC236}">
                <a16:creationId xmlns:a16="http://schemas.microsoft.com/office/drawing/2014/main" id="{A83F2744-FBA3-7346-C031-B23F43716AD6}"/>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CC73FB8B-2193-E39E-3469-9C9CDD42B7DF}"/>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pic>
        <p:nvPicPr>
          <p:cNvPr id="9" name="Picture 8">
            <a:extLst>
              <a:ext uri="{FF2B5EF4-FFF2-40B4-BE49-F238E27FC236}">
                <a16:creationId xmlns:a16="http://schemas.microsoft.com/office/drawing/2014/main" id="{4FAE804D-7102-BCA2-C709-4D9132961BA6}"/>
              </a:ext>
            </a:extLst>
          </p:cNvPr>
          <p:cNvPicPr>
            <a:picLocks noChangeAspect="1"/>
          </p:cNvPicPr>
          <p:nvPr/>
        </p:nvPicPr>
        <p:blipFill>
          <a:blip r:embed="rId9"/>
          <a:stretch>
            <a:fillRect/>
          </a:stretch>
        </p:blipFill>
        <p:spPr>
          <a:xfrm>
            <a:off x="2956560" y="784733"/>
            <a:ext cx="6278880" cy="3750936"/>
          </a:xfrm>
          <a:prstGeom prst="rect">
            <a:avLst/>
          </a:prstGeom>
        </p:spPr>
      </p:pic>
    </p:spTree>
    <p:extLst>
      <p:ext uri="{BB962C8B-B14F-4D97-AF65-F5344CB8AC3E}">
        <p14:creationId xmlns:p14="http://schemas.microsoft.com/office/powerpoint/2010/main" val="32102100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357F4-CD8F-87F8-70A0-27B9066609CA}"/>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8C77A06-6CD5-482F-D468-A6886E76979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6A057D9-DCF4-3768-8D50-995CA1965BC4}"/>
              </a:ext>
            </a:extLst>
          </p:cNvPr>
          <p:cNvSpPr>
            <a:spLocks noGrp="1"/>
          </p:cNvSpPr>
          <p:nvPr>
            <p:ph type="title"/>
          </p:nvPr>
        </p:nvSpPr>
        <p:spPr>
          <a:xfrm>
            <a:off x="576162" y="391215"/>
            <a:ext cx="10933200" cy="387798"/>
          </a:xfrm>
        </p:spPr>
        <p:txBody>
          <a:bodyPr anchor="t"/>
          <a:lstStyle/>
          <a:p>
            <a:r>
              <a:rPr lang="en-US" sz="2800" dirty="0"/>
              <a:t>Campaign and message Insights: </a:t>
            </a:r>
            <a:r>
              <a:rPr lang="en-US" sz="2800" dirty="0" err="1"/>
              <a:t>NewCo</a:t>
            </a:r>
            <a:endParaRPr lang="en-US" sz="2800" dirty="0"/>
          </a:p>
        </p:txBody>
      </p:sp>
      <p:sp>
        <p:nvSpPr>
          <p:cNvPr id="2" name="Rectangle 1">
            <a:extLst>
              <a:ext uri="{FF2B5EF4-FFF2-40B4-BE49-F238E27FC236}">
                <a16:creationId xmlns:a16="http://schemas.microsoft.com/office/drawing/2014/main" id="{0DFBC8B3-DD4B-5055-9328-0AAEE0892258}"/>
              </a:ext>
            </a:extLst>
          </p:cNvPr>
          <p:cNvSpPr/>
          <p:nvPr/>
        </p:nvSpPr>
        <p:spPr>
          <a:xfrm>
            <a:off x="641671" y="5371164"/>
            <a:ext cx="10933200" cy="1265161"/>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Recommendation:</a:t>
            </a:r>
            <a:br>
              <a:rPr lang="en-US" sz="1600" b="1" dirty="0">
                <a:solidFill>
                  <a:srgbClr val="000000"/>
                </a:solidFill>
              </a:rPr>
            </a:br>
            <a:br>
              <a:rPr lang="en-US" sz="1600" b="1" dirty="0">
                <a:solidFill>
                  <a:srgbClr val="000000"/>
                </a:solidFill>
              </a:rPr>
            </a:br>
            <a:r>
              <a:rPr lang="en-US" sz="1600" b="1" dirty="0">
                <a:solidFill>
                  <a:srgbClr val="000000"/>
                </a:solidFill>
              </a:rPr>
              <a:t>If we solely look at conversion Rate, Email has stood first with the highest conversion rate out of all 3 options </a:t>
            </a:r>
            <a:r>
              <a:rPr lang="en-US" sz="1600" b="1">
                <a:solidFill>
                  <a:srgbClr val="000000"/>
                </a:solidFill>
              </a:rPr>
              <a:t>of channel.</a:t>
            </a:r>
            <a:endParaRPr lang="en-US" sz="1600" b="1" dirty="0">
              <a:solidFill>
                <a:srgbClr val="000000"/>
              </a:solidFill>
            </a:endParaRPr>
          </a:p>
          <a:p>
            <a:endParaRPr lang="en-US" sz="1600" b="1" dirty="0">
              <a:solidFill>
                <a:srgbClr val="000000"/>
              </a:solidFill>
            </a:endParaRPr>
          </a:p>
          <a:p>
            <a:endParaRPr lang="en-US" sz="1200" dirty="0">
              <a:solidFill>
                <a:srgbClr val="000000"/>
              </a:solidFill>
            </a:endParaRPr>
          </a:p>
        </p:txBody>
      </p:sp>
      <p:graphicFrame>
        <p:nvGraphicFramePr>
          <p:cNvPr id="17" name="Object 16" hidden="1">
            <a:extLst>
              <a:ext uri="{FF2B5EF4-FFF2-40B4-BE49-F238E27FC236}">
                <a16:creationId xmlns:a16="http://schemas.microsoft.com/office/drawing/2014/main" id="{EE01C7E7-72EC-A155-92A9-31B6F702731C}"/>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69838ABF-27E7-DE65-C804-160FB5B186C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 name="Rectangle 4">
            <a:extLst>
              <a:ext uri="{FF2B5EF4-FFF2-40B4-BE49-F238E27FC236}">
                <a16:creationId xmlns:a16="http://schemas.microsoft.com/office/drawing/2014/main" id="{122C8A3C-D259-F048-17B1-E48A6EFFAEE7}"/>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6A40E7BF-1139-9A14-0162-5718CD63DCB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pic>
        <p:nvPicPr>
          <p:cNvPr id="9" name="Picture 8">
            <a:extLst>
              <a:ext uri="{FF2B5EF4-FFF2-40B4-BE49-F238E27FC236}">
                <a16:creationId xmlns:a16="http://schemas.microsoft.com/office/drawing/2014/main" id="{B52314AB-D843-9D10-027C-A07F07F3FB0F}"/>
              </a:ext>
            </a:extLst>
          </p:cNvPr>
          <p:cNvPicPr>
            <a:picLocks noChangeAspect="1"/>
          </p:cNvPicPr>
          <p:nvPr/>
        </p:nvPicPr>
        <p:blipFill>
          <a:blip r:embed="rId9"/>
          <a:stretch>
            <a:fillRect/>
          </a:stretch>
        </p:blipFill>
        <p:spPr>
          <a:xfrm>
            <a:off x="2930123" y="920884"/>
            <a:ext cx="6534095" cy="3927409"/>
          </a:xfrm>
          <a:prstGeom prst="rect">
            <a:avLst/>
          </a:prstGeom>
        </p:spPr>
      </p:pic>
      <p:sp>
        <p:nvSpPr>
          <p:cNvPr id="10" name="Rectangle 9">
            <a:extLst>
              <a:ext uri="{FF2B5EF4-FFF2-40B4-BE49-F238E27FC236}">
                <a16:creationId xmlns:a16="http://schemas.microsoft.com/office/drawing/2014/main" id="{595122D3-D467-522E-2E24-115C9283FE36}"/>
              </a:ext>
            </a:extLst>
          </p:cNvPr>
          <p:cNvSpPr/>
          <p:nvPr/>
        </p:nvSpPr>
        <p:spPr>
          <a:xfrm>
            <a:off x="3047363" y="4848293"/>
            <a:ext cx="6121815" cy="338554"/>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solidFill>
                  <a:srgbClr val="21BF61"/>
                </a:solidFill>
              </a:rPr>
              <a:t>Conversion Rate (by channel )</a:t>
            </a:r>
          </a:p>
        </p:txBody>
      </p:sp>
    </p:spTree>
    <p:extLst>
      <p:ext uri="{BB962C8B-B14F-4D97-AF65-F5344CB8AC3E}">
        <p14:creationId xmlns:p14="http://schemas.microsoft.com/office/powerpoint/2010/main" val="28254157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257</TotalTime>
  <Words>149</Words>
  <Application>Microsoft Office PowerPoint</Application>
  <PresentationFormat>Widescreen</PresentationFormat>
  <Paragraphs>13</Paragraphs>
  <Slides>3</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3</vt:i4>
      </vt:variant>
      <vt:variant>
        <vt:lpstr>Custom Shows</vt:lpstr>
      </vt:variant>
      <vt:variant>
        <vt:i4>1</vt:i4>
      </vt:variant>
    </vt:vector>
  </HeadingPairs>
  <TitlesOfParts>
    <vt:vector size="8" baseType="lpstr">
      <vt:lpstr>Arial</vt:lpstr>
      <vt:lpstr>Trebuchet MS</vt:lpstr>
      <vt:lpstr>BCG Grid 16:9</vt:lpstr>
      <vt:lpstr>think-cell Slide</vt:lpstr>
      <vt:lpstr>Campaign and message Insights: NewCo</vt:lpstr>
      <vt:lpstr>Campaign and message Insights: NewCo</vt:lpstr>
      <vt:lpstr>Campaign and message Insights: NewCo</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bhuvan singh</cp:lastModifiedBy>
  <cp:revision>9</cp:revision>
  <cp:lastPrinted>2016-04-06T18:59:25Z</cp:lastPrinted>
  <dcterms:created xsi:type="dcterms:W3CDTF">2025-04-28T17:07:03Z</dcterms:created>
  <dcterms:modified xsi:type="dcterms:W3CDTF">2026-01-30T17:25:47Z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